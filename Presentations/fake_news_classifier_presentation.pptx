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 + LR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0.94159999999999999</c:v>
                </c:pt>
                <c:pt idx="1">
                  <c:v>0.93420000000000003</c:v>
                </c:pt>
                <c:pt idx="2">
                  <c:v>0.94630000000000003</c:v>
                </c:pt>
                <c:pt idx="3">
                  <c:v>0.94020000000000004</c:v>
                </c:pt>
                <c:pt idx="4">
                  <c:v>0.98550000000000004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 + LR</c:v>
                </c:pt>
              </c:strCache>
            </c:strRef>
          </c:tx>
          <c:spPr>
            <a:solidFill>
              <a:srgbClr val="1A7A6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0.92830000000000001</c:v>
                </c:pt>
                <c:pt idx="1">
                  <c:v>0.91459999999999997</c:v>
                </c:pt>
                <c:pt idx="2">
                  <c:v>0.94</c:v>
                </c:pt>
                <c:pt idx="3">
                  <c:v>0.92710000000000004</c:v>
                </c:pt>
                <c:pt idx="4">
                  <c:v>0.98299999999999998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DistilBERT</c:v>
                </c:pt>
              </c:strCache>
            </c:strRef>
          </c:tx>
          <c:spPr>
            <a:solidFill>
              <a:srgbClr val="D4A03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0.98570000000000002</c:v>
                </c:pt>
                <c:pt idx="1">
                  <c:v>0.98580000000000001</c:v>
                </c:pt>
                <c:pt idx="2">
                  <c:v>0.98460000000000003</c:v>
                </c:pt>
                <c:pt idx="3">
                  <c:v>0.98519999999999996</c:v>
                </c:pt>
                <c:pt idx="4">
                  <c:v>0.999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1252984"/>
        <c:axId val="361258080"/>
      </c:barChart>
      <c:catAx>
        <c:axId val="361252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60"/>
                </a:solidFill>
                <a:latin typeface="Arial"/>
              </a:defRPr>
            </a:pPr>
            <a:endParaRPr lang="es-ES"/>
          </a:p>
        </c:txPr>
        <c:crossAx val="361258080"/>
        <c:crosses val="autoZero"/>
        <c:auto val="1"/>
        <c:lblAlgn val="ctr"/>
        <c:lblOffset val="100"/>
        <c:noMultiLvlLbl val="1"/>
      </c:catAx>
      <c:valAx>
        <c:axId val="361258080"/>
        <c:scaling>
          <c:orientation val="minMax"/>
          <c:max val="1.02"/>
          <c:min val="0.88"/>
        </c:scaling>
        <c:delete val="0"/>
        <c:axPos val="l"/>
        <c:majorGridlines>
          <c:spPr>
            <a:ln w="6350" cap="flat">
              <a:solidFill>
                <a:srgbClr val="E0DC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60"/>
                </a:solidFill>
                <a:latin typeface="Arial"/>
              </a:defRPr>
            </a:pPr>
            <a:endParaRPr lang="es-ES"/>
          </a:p>
        </c:txPr>
        <c:crossAx val="361252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866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85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Fake vs Real News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234440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 Classification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23444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news headlines using three NLP approaches of increasing complexity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234440" y="3108960"/>
            <a:ext cx="2240280" cy="12801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34440" y="3108960"/>
            <a:ext cx="224028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94.2%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234440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34440" y="3950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lexical baseline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03320" y="3108960"/>
            <a:ext cx="2240280" cy="12801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03320" y="3108960"/>
            <a:ext cx="2240280" cy="4572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4" name="Text 11"/>
          <p:cNvSpPr/>
          <p:nvPr/>
        </p:nvSpPr>
        <p:spPr>
          <a:xfrm>
            <a:off x="370332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A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92.8%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703320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+ LR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03320" y="3950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dense embeddings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3108960"/>
            <a:ext cx="2240280" cy="12801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3108960"/>
            <a:ext cx="2240280" cy="4572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98.6%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172200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(fine-tuned)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72200" y="3950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contextual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23444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Data Science &amp; ML Bootcamp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Problem Framing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3749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classify headlines as fake (0) or real (1)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headline text only — no article body or metadata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34,152 training samples, 9,984 unlabeled test samples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complexity: sparse, dense, contextual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as primary evaluation framework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374904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model distinguish fake from real based on headline alone?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is it learning writing style, not factual truth?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likely encodes source identity through rhetoric patterns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94%+ accuracy from bag-of-words is suspiciously high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separate model skill from dataset artifact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Dataset Analysis &amp; Bias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24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34,152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536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24028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40280" y="1024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9,984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40280" y="1536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02336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023360" y="1024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17,572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023360" y="1536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(0)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06440" y="1024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16,580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806440" y="1536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(1)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589520" y="1005840"/>
            <a:ext cx="1600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589520" y="1024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51/49%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589520" y="1536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19456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2194560"/>
            <a:ext cx="54864" cy="2651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BIAS — CRITICAL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1520" y="26517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headlines: sensational, political (Trump, Obama, Clinton)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headlines: neutral, formal, AP/Reuters wire style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identity is baked into writing style — learnable shortcut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samples show emotional language: 'embarrassing', 'drunk', 'joke'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880" y="219456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2194560"/>
            <a:ext cx="54864" cy="265176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NON-OBVIOUS OBSERVATIONS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0" y="26517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balance means no class imbalance shortcuts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strips punctuation — loses ALL CAPS clickbait signal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entity names alone may be enough to classify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text = limited context = model relies on lexical cues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Assumptions Made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alone carries enough signal for classification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Only headlines provided — no body, source, or metadata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0515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relies on surface-level style, not factual verification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011680"/>
            <a:ext cx="54864" cy="8686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style is a reliable proxy for fake/real label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Fake sources use distinct rhetoric; real sources use wire-service conventions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0" y="20574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94%+ accuracy — but model learns source identity, not truth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017520"/>
            <a:ext cx="54864" cy="8686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share identical distribution and time period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 temporal metadata; standard random split assumed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0" y="30632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drift or new sources would break generalization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4023360"/>
            <a:ext cx="54864" cy="8686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preserves the discriminative signal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31520" y="4389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Lowercase + strip punctuation reduces noise for TF-IDF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29200" y="4069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casing cues (ALL CAPS) and special characters from clickbait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Model Architectures — Representation Trade-offs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Sparse: unigrams + bigrams (50K features)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 TF: dampens frequent words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with C=5.0 (moderate regularization)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match only — no semantics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interpretable, debuggable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+ LR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83280" y="15544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all-MiniLM-L6-v2: frozen 384-dim encoder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1B+ paraphrase pairs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semantic similarity vectors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LR classifier on top (C=5.0)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task-specific fine-tuning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(FINE-TUNED)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09360" y="15544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distilbert-base-uncased (66M params)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tokenizer + contextual attention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updated: 3 epochs, lr=2e-5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10%, weight decay 0.01, batch=32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length 64 tokens — efficient for short text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Baseline — TF-IDF + Logistic Regression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94.16%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Accuracy  (std: 0.33%)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051560"/>
            <a:ext cx="5394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097280"/>
          <a:ext cx="5029200" cy="1042416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914400"/>
                <a:gridCol w="731520"/>
                <a:gridCol w="14630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269748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2697480"/>
            <a:ext cx="54864" cy="21031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1520" y="310896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0.33% std across folds — extremely stable, consistent signal in the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Precision(fake)=0.95 &gt; Precision(real)=0.93 — fake style is more distinctive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capture source fingerprints: 'trump slams', 'sources say', 'breaking bombshell'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from bag-of-words is a red flag — if word counts suffice, the signal is lexical style, not understanding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Sentence Transformers + LR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78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7A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93.05%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 0.19%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06040" y="105156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06040" y="1078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7A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92.83%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60604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06040" y="18288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20%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05156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54880" y="1078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7A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0.9830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75488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(val)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03720" y="1051560"/>
            <a:ext cx="1965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03720" y="1078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7A6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384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90372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03720" y="18288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50K sparse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2423160"/>
            <a:ext cx="8229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2423160"/>
            <a:ext cx="54864" cy="237744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SURPRISING INSIGHT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1520" y="28346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perform WORSE than TF-IDF (93.1% vs 94.2%)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is NOT the signal — exact words and n-grams 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lexical cues dominate, sparse models outperform dense embeddings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encoder misses domain-specific patterns (political rhetoric, clickbait)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model learns style tokens, not sentence-level meaning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DistilBERT Fine-Tuning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228600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distilbert-base-uncased (66M)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764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(train loss: 0.079)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0665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066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2e-5 + 10% warmup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368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weight_decay=0.01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670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Length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tokens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71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Split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971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(same as ST: 20%)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51560"/>
            <a:ext cx="54864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1463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(val)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98.57%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 / 0.99 (fake/real)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066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 / 0.98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2368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2368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0.9852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2670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2670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2971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0.079 (3 epochs)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611880"/>
            <a:ext cx="54864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QUESTION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 accuracy — near perfect. Is this model actually detecting fake news, or memorizing style?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has capacity to memorize subtle token patterns (subword + attention + position)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0.9990 ROC-AUC is unnaturally high for a real-world NLP task — suggests data leakage or shortcut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 Evaluation Strategy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5-Fold Stratified CV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predictions — each sample scored by its holdout fold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precision, recall, F1 all reported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rigorous and unbiased evaluation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0058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SENT. TRANSFORMERS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8328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5-Fold CV + 80/20 Holdout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83280" y="17830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on full embeddings for accuracy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holdout for classification report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LR hyperparameters across models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0058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0936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90/10 Split Only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17830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cross-validation — compute cost too high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split eval — less robust estimate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Epoch-level accuracy monitoring during training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4160520"/>
            <a:ext cx="54864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evaluation across models: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uses OOF on full train, ST uses val holdout, DistilBERT uses a different 10% split. Direct metric comparison is approximate, not exact.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INSIGHT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9728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Learns STYLE, Not TRUTH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80160"/>
            <a:ext cx="54864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1572768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sourced from partisan outlets — sensational, emotional, informal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 from wire services (AP/Reuters) — neutral, standardized, formal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encodes source identity through writing conventions, not factual accuracy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learns: this style = this source = this label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109728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514600"/>
            <a:ext cx="54864" cy="10972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2807208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(bag-of-words) already hits 94% — word frequencies alone are enough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 perform WORSE — meaning doesn't help, tokens do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at 98.6% memorizes subtle style with subword attention patterns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0.33% fold variance means the shortcut is pervasive and consistent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4041648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models are style detectors, not fact-checkers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fail on: well-written fake news or informal real reporting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generalize to unseen sources, new topics, or future time periods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overstates actual fake-news detection capability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 Model Comparison &amp; Best Outcome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82296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3291840"/>
            <a:ext cx="54864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DISTILBERT WINS — AND WHY IT DOESN'T MATTER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31520" y="37033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DistilBERT: highest accuracy (98.6%), F1 (0.985), ROC-AUC (0.999)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attention captures fine-grained style patterns that n-grams miss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all three models exploit the same shortcut — source style as label proxy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is the best practical choice: 100x faster, interpretable, and 94% is already near ceiling for this task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 Model Comparison &amp; Best Outcome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3291840"/>
            <a:ext cx="54864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320697"/>
            <a:ext cx="7541623" cy="1388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best overall performance (≈94.5% accuracy, F1 ≈0.943, ROC-AUC ≈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representations capture interactions between stylistic cues that n-grams model only 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performance gain is marginal (~+1–2%) → no evidence of deeper “truth understanding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converge to similar performance → task is largely linearly separable in lexical 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 err="1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 TF-IDF → abstraction hurts when signal is surface-</a:t>
            </a:r>
            <a:r>
              <a:rPr lang="en-US" sz="9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levelTF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-IDF is the best practical choice: ~100x faster, interpretable, and within ~1% of the best 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 err="1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r>
              <a:rPr lang="en-US" sz="9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complexity for diminishing returns → useful only if marginal gains matter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b="1" dirty="0" smtClean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all three models exploit the same shortcut — source style as label </a:t>
            </a:r>
            <a:r>
              <a:rPr lang="en-US" sz="900" b="1" dirty="0" smtClean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9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071" y="822960"/>
            <a:ext cx="5551092" cy="249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73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Limitations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encodes source identity, not factual accuracy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metadata — can't test temporal generalization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only — no article body, images, or source features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83280" y="15544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adversarial testing (style-swapped headlines)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importance analysis beyond TF-IDF coefficients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not evaluated with CV — weaker comparison basis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15544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eval: CV vs holdout vs single split across models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calibration analysis — confidence estimates not validated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metrics reflect task artifact, not real-world capability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 What I Would Improve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 set: swap styles between fake/real sources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temporal splits: train on past, test on future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with article body, source metadata, publication date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83280" y="15544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De-bias with domain-adversarial training (remove style signal)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TF-IDF + DistilBERT for best of both worlds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lower BERT layers — partial fine-tuning to reduce memorization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1554480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5-fold CV for all models (including DistilBERT)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Leave-one-source-out CV to test cross-source generalization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 + error analysis on misclassified samples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Would Do Differently &amp; 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607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explicit dataset bias analysis before modeling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3716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style-as-proxy problem is visible in the data. Knowing it upfront would reshape the entire experiment.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965960"/>
            <a:ext cx="54864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0208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evaluation across all three models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eval (CV / holdout / single split) makes direct comparison approximate. Would use unified 5-fold for all.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9809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'style-stripped' ablation experiment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32918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entity names with placeholders, normalize tone — test if accuracy drops. Would reveal how much signal is style vs content.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2D2D2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886200"/>
            <a:ext cx="54864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9410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project as 'source style classifier' from the start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" y="4251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honest framing. The model detects which kind of outlet wrote the headline, not whether it's factually true.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590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does not equal real-world capability. Always ask: what is the model actually learning?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1598</Words>
  <Application>Microsoft Office PowerPoint</Application>
  <PresentationFormat>Presentación en pantalla (16:9)</PresentationFormat>
  <Paragraphs>249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vs Real News — Headline Classifier</dc:title>
  <dc:subject>PptxGenJS Presentation</dc:subject>
  <dc:creator>NLP Team</dc:creator>
  <cp:lastModifiedBy>Usuario de Windows</cp:lastModifiedBy>
  <cp:revision>3</cp:revision>
  <dcterms:created xsi:type="dcterms:W3CDTF">2026-04-02T11:24:26Z</dcterms:created>
  <dcterms:modified xsi:type="dcterms:W3CDTF">2026-04-02T14:58:19Z</dcterms:modified>
</cp:coreProperties>
</file>